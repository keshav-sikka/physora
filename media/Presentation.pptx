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88" r:id="rId2"/>
  </p:sldMasterIdLst>
  <p:notesMasterIdLst>
    <p:notesMasterId r:id="rId11"/>
  </p:notesMasterIdLst>
  <p:sldIdLst>
    <p:sldId id="256" r:id="rId3"/>
    <p:sldId id="267" r:id="rId4"/>
    <p:sldId id="269" r:id="rId5"/>
    <p:sldId id="257" r:id="rId6"/>
    <p:sldId id="258" r:id="rId7"/>
    <p:sldId id="259" r:id="rId8"/>
    <p:sldId id="260" r:id="rId9"/>
    <p:sldId id="270" r:id="rId10"/>
  </p:sldIdLst>
  <p:sldSz cx="18288000" cy="10287000"/>
  <p:notesSz cx="6858000" cy="9144000"/>
  <p:embeddedFontLst>
    <p:embeddedFont>
      <p:font typeface="Felix Titling" panose="04060505060202020A04" pitchFamily="82" charset="0"/>
      <p:regular r:id="rId12"/>
    </p:embeddedFont>
    <p:embeddedFont>
      <p:font typeface="Goudy Old Style" panose="02020502050305020303" pitchFamily="18" charset="0"/>
      <p:regular r:id="rId13"/>
      <p:bold r:id="rId14"/>
      <p:italic r:id="rId15"/>
    </p:embeddedFont>
    <p:embeddedFont>
      <p:font typeface="JetBrains Mono" panose="020B0604020202020204" charset="0"/>
      <p:regular r:id="rId16"/>
    </p:embeddedFont>
    <p:embeddedFont>
      <p:font typeface="JetBrains Mono Bold" panose="020B0604020202020204" charset="0"/>
      <p:regular r:id="rId17"/>
    </p:embeddedFont>
    <p:embeddedFont>
      <p:font typeface="JetBrains Mono Italics" panose="020B0604020202020204" charset="0"/>
      <p:regular r:id="rId18"/>
    </p:embeddedFont>
    <p:embeddedFont>
      <p:font typeface="JetBrains Mono Medium" panose="020B0604020202020204" charset="0"/>
      <p:regular r:id="rId19"/>
    </p:embeddedFont>
    <p:embeddedFont>
      <p:font typeface="JetBrains Mono Ultra-Bold" panose="020B0604020202020204" charset="0"/>
      <p:regular r:id="rId20"/>
    </p:embeddedFont>
    <p:embeddedFont>
      <p:font typeface="Telegraf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F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1.xml"/><Relationship Id="rId21" Type="http://schemas.openxmlformats.org/officeDocument/2006/relationships/font" Target="fonts/font10.fntdata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80A4F-611E-4129-8D40-A7F55E4A90A3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40D602-BA31-4BFF-BA57-D749090203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91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40D602-BA31-4BFF-BA57-D7490902037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875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8" y="1446113"/>
            <a:ext cx="6981446" cy="56098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87000" y="7234263"/>
            <a:ext cx="6309360" cy="2071116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000">
                <a:solidFill>
                  <a:schemeClr val="tx1"/>
                </a:solidFill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61872" y="1446111"/>
            <a:ext cx="8104920" cy="7888394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5638972" y="7030643"/>
            <a:ext cx="4060035" cy="5476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172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48640"/>
            <a:ext cx="16111728" cy="16983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488019"/>
            <a:ext cx="16171164" cy="7387500"/>
          </a:xfrm>
        </p:spPr>
        <p:txBody>
          <a:bodyPr>
            <a:normAutofit/>
          </a:bodyPr>
          <a:lstStyle>
            <a:lvl1pPr>
              <a:defRPr sz="27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536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7827048"/>
            <a:ext cx="16459200" cy="1179576"/>
          </a:xfrm>
        </p:spPr>
        <p:txBody>
          <a:bodyPr anchor="b">
            <a:normAutofit/>
          </a:bodyPr>
          <a:lstStyle>
            <a:lvl1pPr algn="ctr"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8958944"/>
            <a:ext cx="16459200" cy="720560"/>
          </a:xfrm>
        </p:spPr>
        <p:txBody>
          <a:bodyPr anchor="t">
            <a:normAutofit/>
          </a:bodyPr>
          <a:lstStyle>
            <a:lvl1pPr marL="0" indent="0" algn="ctr">
              <a:buNone/>
              <a:defRPr sz="3000">
                <a:solidFill>
                  <a:schemeClr val="tx1"/>
                </a:solidFill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1"/>
            <a:ext cx="18287999" cy="7479638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594179" y="8680787"/>
            <a:ext cx="2255166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6" y="7484910"/>
            <a:ext cx="182879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11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1" y="3867913"/>
            <a:ext cx="11819003" cy="5388944"/>
          </a:xfrm>
        </p:spPr>
        <p:txBody>
          <a:bodyPr>
            <a:norm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6" y="2571750"/>
            <a:ext cx="182879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81701" y="552451"/>
            <a:ext cx="11063288" cy="1521620"/>
          </a:xfrm>
        </p:spPr>
        <p:txBody>
          <a:bodyPr anchor="ctr">
            <a:normAutofit/>
          </a:bodyPr>
          <a:lstStyle>
            <a:lvl1pPr algn="r">
              <a:defRPr sz="3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983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1289305"/>
            <a:ext cx="14319504" cy="5513828"/>
          </a:xfrm>
        </p:spPr>
        <p:txBody>
          <a:bodyPr anchor="t">
            <a:norm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6" y="7715250"/>
            <a:ext cx="182879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6004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8921" y="1944125"/>
            <a:ext cx="6529988" cy="6398753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802584" y="1944125"/>
            <a:ext cx="6487668" cy="6398753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42900" indent="0">
              <a:buNone/>
              <a:defRPr>
                <a:solidFill>
                  <a:schemeClr val="tx1"/>
                </a:solidFill>
              </a:defRPr>
            </a:lvl2pPr>
            <a:lvl3pPr marL="685800" indent="0">
              <a:buNone/>
              <a:defRPr>
                <a:solidFill>
                  <a:schemeClr val="tx1"/>
                </a:solidFill>
              </a:defRPr>
            </a:lvl3pPr>
            <a:lvl4pPr marL="1028700" indent="0">
              <a:buNone/>
              <a:defRPr>
                <a:solidFill>
                  <a:schemeClr val="tx1"/>
                </a:solidFill>
              </a:defRPr>
            </a:lvl4pPr>
            <a:lvl5pPr marL="13716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918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056" y="6912864"/>
            <a:ext cx="6254496" cy="2414016"/>
          </a:xfrm>
        </p:spPr>
        <p:txBody>
          <a:bodyPr anchor="t" anchorCtr="0">
            <a:noAutofit/>
          </a:bodyPr>
          <a:lstStyle>
            <a:lvl1pPr algn="ctr"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885952" y="1645920"/>
            <a:ext cx="5664705" cy="475215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4800">
                <a:solidFill>
                  <a:schemeClr val="tx1"/>
                </a:solidFill>
              </a:defRPr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2196" y="1261872"/>
            <a:ext cx="6323076" cy="7996428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445629" y="0"/>
            <a:ext cx="0" cy="10287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928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3922776"/>
            <a:ext cx="5719572" cy="5335524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79608" y="1261872"/>
            <a:ext cx="7434263" cy="5334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7524305" y="0"/>
            <a:ext cx="0" cy="10287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154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261872"/>
            <a:ext cx="4498848" cy="7776972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00389" y="1261872"/>
            <a:ext cx="9390231" cy="77769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6273315" y="0"/>
            <a:ext cx="0" cy="10287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4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6729" y="1485767"/>
            <a:ext cx="3848390" cy="2788412"/>
          </a:xfrm>
        </p:spPr>
        <p:txBody>
          <a:bodyPr anchor="b"/>
          <a:lstStyle>
            <a:lvl1pPr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489485" cy="10287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248407" y="4517003"/>
            <a:ext cx="3839966" cy="398437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342900" indent="0">
              <a:buNone/>
              <a:defRPr lang="en-US" sz="2100" dirty="0"/>
            </a:lvl2pPr>
            <a:lvl3pPr marL="685800" indent="0">
              <a:buNone/>
              <a:defRPr lang="en-US" sz="2100" dirty="0"/>
            </a:lvl3pPr>
            <a:lvl4pPr marL="1028700" indent="0">
              <a:buNone/>
              <a:defRPr lang="en-US" sz="2100" dirty="0"/>
            </a:lvl4pPr>
            <a:lvl5pPr marL="1371600" indent="0">
              <a:buNone/>
              <a:defRPr lang="en-US" sz="21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5438846" y="2389438"/>
            <a:ext cx="4460283" cy="547688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5638972" y="7030643"/>
            <a:ext cx="4060035" cy="5476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7268444" y="9534526"/>
            <a:ext cx="861930" cy="5476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2480855" y="0"/>
            <a:ext cx="0" cy="10287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950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1" y="822960"/>
            <a:ext cx="9139838" cy="1714500"/>
          </a:xfrm>
        </p:spPr>
        <p:txBody>
          <a:bodyPr anchor="b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"/>
            <a:ext cx="7190828" cy="10287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55280" y="2743200"/>
            <a:ext cx="9107424" cy="67345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95731" y="0"/>
            <a:ext cx="0" cy="10287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5638972" y="7030643"/>
            <a:ext cx="4060035" cy="5476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5438848" y="2389436"/>
            <a:ext cx="4460283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223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22960"/>
            <a:ext cx="9203436" cy="1714500"/>
          </a:xfrm>
        </p:spPr>
        <p:txBody>
          <a:bodyPr anchor="b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0" y="2743200"/>
            <a:ext cx="9203436" cy="67345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100816" y="0"/>
            <a:ext cx="7187184" cy="10287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73033" y="0"/>
            <a:ext cx="0" cy="10287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1496618" y="7030643"/>
            <a:ext cx="4060035" cy="5476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696742" y="2389436"/>
            <a:ext cx="4460283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6676" y="9534526"/>
            <a:ext cx="861930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4258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80060"/>
            <a:ext cx="10287000" cy="1399032"/>
          </a:xfrm>
        </p:spPr>
        <p:txBody>
          <a:bodyPr anchor="b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0" y="2071116"/>
            <a:ext cx="10287000" cy="74752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37599" y="0"/>
            <a:ext cx="6150401" cy="10287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2116642" y="0"/>
            <a:ext cx="0" cy="10287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1496618" y="7030643"/>
            <a:ext cx="4060035" cy="5476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696742" y="2389436"/>
            <a:ext cx="4460283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6676" y="9534526"/>
            <a:ext cx="861930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8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75120"/>
            <a:ext cx="6542532" cy="1893959"/>
          </a:xfrm>
        </p:spPr>
        <p:txBody>
          <a:bodyPr anchor="b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1" y="2969192"/>
            <a:ext cx="6541295" cy="6493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18220" y="0"/>
            <a:ext cx="9669780" cy="10287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8189" y="0"/>
            <a:ext cx="0" cy="10287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1496618" y="7030643"/>
            <a:ext cx="4060035" cy="5476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696742" y="2389436"/>
            <a:ext cx="4460283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6676" y="9534526"/>
            <a:ext cx="861930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7032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80060"/>
            <a:ext cx="6858000" cy="1399032"/>
          </a:xfrm>
        </p:spPr>
        <p:txBody>
          <a:bodyPr anchor="b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0" y="2071116"/>
            <a:ext cx="6858000" cy="74752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76581" y="0"/>
            <a:ext cx="9411419" cy="10287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867586" y="0"/>
            <a:ext cx="0" cy="10287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1496618" y="7030643"/>
            <a:ext cx="4060035" cy="5476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696742" y="2389436"/>
            <a:ext cx="4460283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6676" y="9534526"/>
            <a:ext cx="861930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0448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18402"/>
            <a:ext cx="5609844" cy="2085495"/>
          </a:xfrm>
        </p:spPr>
        <p:txBody>
          <a:bodyPr anchor="t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" y="0"/>
            <a:ext cx="18288000" cy="6952698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748501" y="8526464"/>
            <a:ext cx="2563814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69480" y="7518401"/>
            <a:ext cx="9601200" cy="208549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2700">
                <a:solidFill>
                  <a:schemeClr val="tx1"/>
                </a:solidFill>
              </a:defRPr>
            </a:lvl1pPr>
            <a:lvl2pPr marL="342900" indent="0"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2pPr>
            <a:lvl3pPr marL="685800" indent="0">
              <a:buFont typeface="Arial" panose="020B0604020202020204" pitchFamily="34" charset="0"/>
              <a:buNone/>
              <a:defRPr sz="2100">
                <a:solidFill>
                  <a:schemeClr val="tx1"/>
                </a:solidFill>
              </a:defRPr>
            </a:lvl3pPr>
            <a:lvl4pPr marL="102870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4pPr>
            <a:lvl5pPr marL="1371600" indent="0">
              <a:buFont typeface="Arial" panose="020B0604020202020204" pitchFamily="34" charset="0"/>
              <a:buNone/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6760939" y="8152610"/>
            <a:ext cx="1816101" cy="5476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6957345"/>
            <a:ext cx="182879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10020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1" y="7324344"/>
            <a:ext cx="5486405" cy="2180844"/>
          </a:xfrm>
        </p:spPr>
        <p:txBody>
          <a:bodyPr anchor="t">
            <a:norm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97281" y="822964"/>
            <a:ext cx="5235263" cy="6062471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06640" y="823913"/>
            <a:ext cx="9841707" cy="86391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9176" y="0"/>
            <a:ext cx="0" cy="10287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5757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246" y="839012"/>
            <a:ext cx="16133505" cy="139903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696742" y="2389436"/>
            <a:ext cx="4460283" cy="5476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1496619" y="6892420"/>
            <a:ext cx="4060035" cy="547688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32854" y="9396302"/>
            <a:ext cx="861930" cy="5476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66800" y="2570479"/>
            <a:ext cx="6580518" cy="69194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88391" y="2570480"/>
            <a:ext cx="9799607" cy="7716521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428625" lvl="0" indent="-428625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608188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101" y="7406642"/>
            <a:ext cx="10481306" cy="2029968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500"/>
              </a:spcBef>
              <a:defRPr sz="42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086100" y="823532"/>
            <a:ext cx="14182725" cy="6500813"/>
          </a:xfrm>
        </p:spPr>
        <p:txBody>
          <a:bodyPr anchor="b">
            <a:normAutofit/>
          </a:bodyPr>
          <a:lstStyle>
            <a:lvl1pPr>
              <a:defRPr sz="348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2057400" y="0"/>
            <a:ext cx="0" cy="10287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335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8972" y="-1842189"/>
            <a:ext cx="15979140" cy="1700784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936207" y="3403123"/>
            <a:ext cx="10415586" cy="593138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6600" b="0" cap="all" baseline="0">
                <a:solidFill>
                  <a:schemeClr val="tx1"/>
                </a:solidFill>
              </a:defRPr>
            </a:lvl1pPr>
            <a:lvl2pPr marL="342900" indent="0" algn="ctr">
              <a:lnSpc>
                <a:spcPct val="110000"/>
              </a:lnSpc>
              <a:buNone/>
              <a:defRPr sz="6600" b="0" cap="all" baseline="0">
                <a:solidFill>
                  <a:schemeClr val="tx1"/>
                </a:solidFill>
              </a:defRPr>
            </a:lvl2pPr>
            <a:lvl3pPr marL="685800" indent="0" algn="ctr">
              <a:lnSpc>
                <a:spcPct val="110000"/>
              </a:lnSpc>
              <a:buNone/>
              <a:defRPr sz="6600" b="0" cap="all" baseline="0">
                <a:solidFill>
                  <a:schemeClr val="tx1"/>
                </a:solidFill>
              </a:defRPr>
            </a:lvl3pPr>
            <a:lvl4pPr marL="1028700" indent="0" algn="ctr">
              <a:lnSpc>
                <a:spcPct val="110000"/>
              </a:lnSpc>
              <a:buNone/>
              <a:defRPr sz="6600" b="0" cap="all" baseline="0">
                <a:solidFill>
                  <a:schemeClr val="tx1"/>
                </a:solidFill>
              </a:defRPr>
            </a:lvl4pPr>
            <a:lvl5pPr marL="1371600" indent="0" algn="ctr">
              <a:lnSpc>
                <a:spcPct val="110000"/>
              </a:lnSpc>
              <a:buNone/>
              <a:defRPr sz="66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4585808" y="-2145569"/>
            <a:ext cx="9116385" cy="15766058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3895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10252" y="8503920"/>
            <a:ext cx="9467496" cy="69951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500"/>
              </a:spcBef>
              <a:defRPr sz="27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95703" y="2616867"/>
            <a:ext cx="10496595" cy="5261859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4217070" y="-2522960"/>
            <a:ext cx="9853863" cy="15766058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70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978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48640"/>
            <a:ext cx="16111728" cy="169838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97757" y="3155158"/>
            <a:ext cx="7772400" cy="65270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427421" y="3154682"/>
            <a:ext cx="7772400" cy="65270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386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48640"/>
            <a:ext cx="16111728" cy="169838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1" y="3154680"/>
            <a:ext cx="7736681" cy="839751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3000" b="0" cap="all" baseline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97758" y="4114801"/>
            <a:ext cx="7735781" cy="5645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464040" y="3154680"/>
            <a:ext cx="7774782" cy="839751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3000" b="0" cap="all" baseline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464042" y="4114801"/>
            <a:ext cx="7774782" cy="5645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6438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48640"/>
            <a:ext cx="16111728" cy="169838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0248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1374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3" y="685800"/>
            <a:ext cx="11013461" cy="1700784"/>
          </a:xfrm>
          <a:noFill/>
        </p:spPr>
        <p:txBody>
          <a:bodyPr anchor="b">
            <a:noAutofit/>
          </a:bodyPr>
          <a:lstStyle>
            <a:lvl1pPr>
              <a:defRPr sz="9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61872" y="3936492"/>
            <a:ext cx="15636240" cy="48006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42900" indent="0">
              <a:buNone/>
              <a:defRPr>
                <a:solidFill>
                  <a:schemeClr val="tx1"/>
                </a:solidFill>
              </a:defRPr>
            </a:lvl2pPr>
            <a:lvl3pPr marL="685800" indent="0">
              <a:buNone/>
              <a:defRPr>
                <a:solidFill>
                  <a:schemeClr val="tx1"/>
                </a:solidFill>
              </a:defRPr>
            </a:lvl3pPr>
            <a:lvl4pPr marL="1028700" indent="0">
              <a:buNone/>
              <a:defRPr>
                <a:solidFill>
                  <a:schemeClr val="tx1"/>
                </a:solidFill>
              </a:defRPr>
            </a:lvl4pPr>
            <a:lvl5pPr marL="13716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1584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48640"/>
            <a:ext cx="16111728" cy="1698387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7280" y="3452755"/>
            <a:ext cx="16111725" cy="5881748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42900" indent="0">
              <a:buNone/>
              <a:defRPr>
                <a:solidFill>
                  <a:schemeClr val="tx1"/>
                </a:solidFill>
              </a:defRPr>
            </a:lvl2pPr>
            <a:lvl3pPr marL="685800" indent="0">
              <a:buNone/>
              <a:defRPr>
                <a:solidFill>
                  <a:schemeClr val="tx1"/>
                </a:solidFill>
              </a:defRPr>
            </a:lvl3pPr>
            <a:lvl4pPr marL="1028700" indent="0">
              <a:buNone/>
              <a:defRPr>
                <a:solidFill>
                  <a:schemeClr val="tx1"/>
                </a:solidFill>
              </a:defRPr>
            </a:lvl4pPr>
            <a:lvl5pPr marL="13716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26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4724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3615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5806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3375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0856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9554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12525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86447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8105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442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692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877486"/>
            <a:ext cx="15773400" cy="1675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696742" y="2389436"/>
            <a:ext cx="4460283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5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3092204"/>
            <a:ext cx="15773400" cy="61722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5638972" y="7030643"/>
            <a:ext cx="4060035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50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68444" y="9534526"/>
            <a:ext cx="86193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5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6" y="2736167"/>
            <a:ext cx="182879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8299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371600" rtl="0" eaLnBrk="1" latinLnBrk="0" hangingPunct="1">
        <a:lnSpc>
          <a:spcPct val="110000"/>
        </a:lnSpc>
        <a:spcBef>
          <a:spcPts val="1500"/>
        </a:spcBef>
        <a:buSzPct val="80000"/>
        <a:buFont typeface="Arial" panose="020B0604020202020204" pitchFamily="34" charset="0"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342900" algn="l" defTabSz="1371600" rtl="0" eaLnBrk="1" latinLnBrk="0" hangingPunct="1">
        <a:lnSpc>
          <a:spcPct val="110000"/>
        </a:lnSpc>
        <a:spcBef>
          <a:spcPts val="750"/>
        </a:spcBef>
        <a:buSzPct val="80000"/>
        <a:buFont typeface="Goudy Old Style" panose="02020502050305020303" pitchFamily="18" charset="0"/>
        <a:buChar char="–"/>
        <a:defRPr sz="24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1234440" indent="-342900" algn="l" defTabSz="1371600" rtl="0" eaLnBrk="1" latinLnBrk="0" hangingPunct="1">
        <a:lnSpc>
          <a:spcPct val="110000"/>
        </a:lnSpc>
        <a:spcBef>
          <a:spcPts val="750"/>
        </a:spcBef>
        <a:buSzPct val="80000"/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indent="-342900" algn="l" defTabSz="1371600" rtl="0" eaLnBrk="1" latinLnBrk="0" hangingPunct="1">
        <a:lnSpc>
          <a:spcPct val="110000"/>
        </a:lnSpc>
        <a:spcBef>
          <a:spcPts val="750"/>
        </a:spcBef>
        <a:buSzPct val="80000"/>
        <a:buFont typeface="Goudy Old Style" panose="02020502050305020303" pitchFamily="18" charset="0"/>
        <a:buChar char="–"/>
        <a:defRPr sz="21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342900" algn="l" defTabSz="1371600" rtl="0" eaLnBrk="1" latinLnBrk="0" hangingPunct="1">
        <a:lnSpc>
          <a:spcPct val="110000"/>
        </a:lnSpc>
        <a:spcBef>
          <a:spcPts val="750"/>
        </a:spcBef>
        <a:buSzPct val="80000"/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26-08-2026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03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5560291" y="1349958"/>
            <a:ext cx="12727709" cy="8937042"/>
          </a:xfrm>
          <a:custGeom>
            <a:avLst/>
            <a:gdLst/>
            <a:ahLst/>
            <a:cxnLst/>
            <a:rect l="l" t="t" r="r" b="b"/>
            <a:pathLst>
              <a:path w="14323638" h="9557773">
                <a:moveTo>
                  <a:pt x="14323638" y="0"/>
                </a:moveTo>
                <a:lnTo>
                  <a:pt x="0" y="0"/>
                </a:lnTo>
                <a:lnTo>
                  <a:pt x="0" y="9557773"/>
                </a:lnTo>
                <a:lnTo>
                  <a:pt x="14323638" y="9557773"/>
                </a:lnTo>
                <a:lnTo>
                  <a:pt x="14323638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497949" y="517018"/>
            <a:ext cx="8121376" cy="9769982"/>
            <a:chOff x="0" y="0"/>
            <a:chExt cx="2138963" cy="25731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38963" cy="2573164"/>
            </a:xfrm>
            <a:custGeom>
              <a:avLst/>
              <a:gdLst/>
              <a:ahLst/>
              <a:cxnLst/>
              <a:rect l="l" t="t" r="r" b="b"/>
              <a:pathLst>
                <a:path w="2138963" h="2573164">
                  <a:moveTo>
                    <a:pt x="0" y="0"/>
                  </a:moveTo>
                  <a:lnTo>
                    <a:pt x="2138963" y="0"/>
                  </a:lnTo>
                  <a:lnTo>
                    <a:pt x="2138963" y="2573164"/>
                  </a:lnTo>
                  <a:lnTo>
                    <a:pt x="0" y="2573164"/>
                  </a:lnTo>
                  <a:close/>
                </a:path>
              </a:pathLst>
            </a:custGeom>
            <a:gradFill rotWithShape="1">
              <a:gsLst>
                <a:gs pos="0">
                  <a:srgbClr val="FAF9F5">
                    <a:alpha val="100000"/>
                  </a:srgbClr>
                </a:gs>
                <a:gs pos="50000">
                  <a:srgbClr val="FAF9F5">
                    <a:alpha val="59500"/>
                  </a:srgbClr>
                </a:gs>
                <a:gs pos="100000">
                  <a:srgbClr val="FAF9F5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138963" cy="2601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466385" y="729227"/>
            <a:ext cx="17355230" cy="0"/>
          </a:xfrm>
          <a:prstGeom prst="line">
            <a:avLst/>
          </a:prstGeom>
          <a:ln w="9525" cap="flat">
            <a:solidFill>
              <a:srgbClr val="A7A18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001661" y="1346053"/>
            <a:ext cx="12114362" cy="443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9600" dirty="0">
                <a:solidFill>
                  <a:schemeClr val="accent3">
                    <a:lumMod val="50000"/>
                  </a:schemeClr>
                </a:solidFill>
                <a:latin typeface="Telegraf Bold" panose="020B0604020202020204" charset="0"/>
              </a:rPr>
              <a:t>Interactive 3D Physics Simulation Platform</a:t>
            </a:r>
            <a:endParaRPr lang="en-US" sz="20038" b="1" spc="-801" dirty="0">
              <a:solidFill>
                <a:schemeClr val="accent3">
                  <a:lumMod val="50000"/>
                </a:schemeClr>
              </a:solidFill>
              <a:latin typeface="Telegraf Bold" panose="020B0604020202020204" charset="0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7388242"/>
            <a:ext cx="5480149" cy="129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99" b="1" spc="-67" dirty="0">
                <a:solidFill>
                  <a:srgbClr val="36494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INTELLIGENT 3D BRIDGE SIMULATION &amp; OPTIMIZATION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9010650"/>
            <a:ext cx="5250111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spc="-32">
                <a:solidFill>
                  <a:srgbClr val="36494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STRUCTURES WE CROSS WITHOUT A THOUGHT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028700" y="8599813"/>
            <a:ext cx="5480149" cy="0"/>
          </a:xfrm>
          <a:prstGeom prst="line">
            <a:avLst/>
          </a:prstGeom>
          <a:ln w="9525" cap="flat">
            <a:solidFill>
              <a:srgbClr val="A7A18B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66385" y="729227"/>
            <a:ext cx="17355230" cy="0"/>
          </a:xfrm>
          <a:prstGeom prst="line">
            <a:avLst/>
          </a:prstGeom>
          <a:ln w="9525" cap="flat">
            <a:solidFill>
              <a:srgbClr val="81A19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10916439" y="3213457"/>
            <a:ext cx="6342861" cy="0"/>
          </a:xfrm>
          <a:prstGeom prst="line">
            <a:avLst/>
          </a:prstGeom>
          <a:ln w="9525" cap="flat">
            <a:solidFill>
              <a:srgbClr val="81A19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0916439" y="5226817"/>
            <a:ext cx="6342861" cy="0"/>
          </a:xfrm>
          <a:prstGeom prst="line">
            <a:avLst/>
          </a:prstGeom>
          <a:ln w="9525" cap="flat">
            <a:solidFill>
              <a:srgbClr val="81A19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10916439" y="7240177"/>
            <a:ext cx="6342861" cy="0"/>
          </a:xfrm>
          <a:prstGeom prst="line">
            <a:avLst/>
          </a:prstGeom>
          <a:ln w="9525" cap="flat">
            <a:solidFill>
              <a:srgbClr val="81A19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10916439" y="9253538"/>
            <a:ext cx="6342861" cy="0"/>
          </a:xfrm>
          <a:prstGeom prst="line">
            <a:avLst/>
          </a:prstGeom>
          <a:ln w="9525" cap="flat">
            <a:solidFill>
              <a:srgbClr val="81A19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flipH="1">
            <a:off x="16583523" y="1743719"/>
            <a:ext cx="0" cy="7514581"/>
          </a:xfrm>
          <a:prstGeom prst="line">
            <a:avLst/>
          </a:prstGeom>
          <a:ln w="9525" cap="flat">
            <a:solidFill>
              <a:srgbClr val="81A19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7910670" y="361131"/>
            <a:ext cx="2466659" cy="24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88A0A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THE PROBLEM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3450" y="1714759"/>
            <a:ext cx="8393783" cy="1129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00"/>
              </a:lnSpc>
            </a:pPr>
            <a:r>
              <a:rPr lang="en-US" sz="9200" b="1" spc="-579" dirty="0">
                <a:solidFill>
                  <a:srgbClr val="364946"/>
                </a:solidFill>
                <a:latin typeface="Telegraf Bold"/>
                <a:ea typeface="Telegraf Bold"/>
                <a:cs typeface="Telegraf Bold"/>
                <a:sym typeface="Telegraf Bold"/>
              </a:rPr>
              <a:t>The Problem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1325" y="3040750"/>
            <a:ext cx="688933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99"/>
              </a:lnSpc>
            </a:pPr>
            <a:r>
              <a:rPr lang="en-IN" sz="2400" b="1" dirty="0">
                <a:solidFill>
                  <a:srgbClr val="364946"/>
                </a:solidFill>
                <a:latin typeface="JetBrains Mono Bold"/>
              </a:rPr>
              <a:t>COMPLEX CALCULATIONS, EXPENSIVE PROTOTYPES, AND SPECIALIZED EXPERTISE MAKE PHYSICS-BASED DESIGN SLOW, COSTLY, AND DIFFICULT TO ITERATE.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916439" y="1743719"/>
            <a:ext cx="2387415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400" b="1" dirty="0">
                <a:solidFill>
                  <a:srgbClr val="36494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CALCULATIONS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916439" y="2181553"/>
            <a:ext cx="4866573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88A0A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EXTENSIVE ENGINEERING MATH IS NEEDED BEFORE A SINGLE BEAM IS EVER PLACED.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16439" y="3757079"/>
            <a:ext cx="2387415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400" b="1" dirty="0">
                <a:solidFill>
                  <a:srgbClr val="36494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SIMULATIONS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916439" y="4194913"/>
            <a:ext cx="4866573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88A0A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MULTIPLE PHYSICAL AND DIGITAL TESTS ARE NEEDED TO VALIDATE EVERY DESIGN.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916439" y="5770439"/>
            <a:ext cx="2387415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400" b="1" dirty="0">
                <a:solidFill>
                  <a:srgbClr val="36494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PROTOTYPING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916439" y="6208273"/>
            <a:ext cx="4866573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88A0A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PHYSICAL MODELS AND TESTING ADD SIGNIFICANT COST AND DELAY.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916439" y="7783800"/>
            <a:ext cx="2387415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400" b="1" dirty="0">
                <a:solidFill>
                  <a:srgbClr val="36494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EXPERTISE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916439" y="8221634"/>
            <a:ext cx="4866573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88A0A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FINDING A STRUCTURE'S WEAK POINTS STILL DEPENDS ON SCARCE SPECIALIST KNOWLEDGE.</a:t>
            </a:r>
          </a:p>
        </p:txBody>
      </p:sp>
      <p:pic>
        <p:nvPicPr>
          <p:cNvPr id="29" name="Picture 28" descr="Figuring out a solution to a problem using Physics. Physics problem stock images, royalty-free photos and pictures">
            <a:extLst>
              <a:ext uri="{FF2B5EF4-FFF2-40B4-BE49-F238E27FC236}">
                <a16:creationId xmlns:a16="http://schemas.microsoft.com/office/drawing/2014/main" id="{5E1C1F4A-3CFD-0EB9-E96D-9EAEF9D9A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4442548"/>
            <a:ext cx="7712592" cy="48109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418829"/>
            <a:ext cx="3914775" cy="281106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25" y="2418829"/>
            <a:ext cx="3914775" cy="281106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5458495"/>
            <a:ext cx="3914775" cy="281106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25" y="5458495"/>
            <a:ext cx="3914775" cy="281106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2418828"/>
            <a:ext cx="4663305" cy="5429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7250" y="910616"/>
            <a:ext cx="17402175" cy="952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8009"/>
              </a:lnSpc>
            </a:pPr>
            <a:r>
              <a:rPr lang="en-US" sz="5400" b="1" spc="-150" dirty="0">
                <a:solidFill>
                  <a:srgbClr val="364946"/>
                </a:solidFill>
                <a:latin typeface="Telegraf Bold"/>
                <a:ea typeface="Telegraf Bold"/>
                <a:cs typeface="Telegraf Bold"/>
                <a:sym typeface="Telegraf Bold"/>
              </a:rPr>
              <a:t>THE  AI  POWERED  PHYSICS 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4438" y="2718866"/>
            <a:ext cx="3200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rgbClr val="364946"/>
                </a:solidFill>
                <a:latin typeface="JetBrains Mono Ultra-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4438" y="3433241"/>
            <a:ext cx="33604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>
                <a:solidFill>
                  <a:srgbClr val="364946"/>
                </a:solidFill>
                <a:latin typeface="JetBrains Mono Ultra-Bold"/>
              </a:rPr>
              <a:t>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4438" y="3890441"/>
            <a:ext cx="3200400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60"/>
              </a:lnSpc>
              <a:spcBef>
                <a:spcPct val="0"/>
              </a:spcBef>
            </a:pPr>
            <a:r>
              <a:rPr lang="en-US" b="1" dirty="0">
                <a:solidFill>
                  <a:srgbClr val="A7A18B"/>
                </a:solidFill>
                <a:latin typeface="JetBrains Mono Medium"/>
              </a:rPr>
              <a:t>DESCRIBE YOUR IDEA AND CONSTRAINTS TO THE AI AGENT</a:t>
            </a:r>
            <a:endParaRPr b="1" dirty="0">
              <a:solidFill>
                <a:srgbClr val="A7A18B"/>
              </a:solidFill>
              <a:latin typeface="JetBrains Mono Medium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57813" y="2718866"/>
            <a:ext cx="3200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rgbClr val="364946"/>
                </a:solidFill>
                <a:latin typeface="JetBrains Mono Ultra-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7813" y="3433241"/>
            <a:ext cx="33604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>
                <a:solidFill>
                  <a:srgbClr val="364946"/>
                </a:solidFill>
                <a:latin typeface="JetBrains Mono Ultra-Bold"/>
              </a:rPr>
              <a:t>SIMULATE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7813" y="3890441"/>
            <a:ext cx="3200400" cy="1025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046"/>
              </a:lnSpc>
            </a:pPr>
            <a:r>
              <a:rPr b="1" dirty="0">
                <a:solidFill>
                  <a:srgbClr val="A7A18B"/>
                </a:solidFill>
                <a:latin typeface="JetBrains Mono Medium"/>
              </a:rPr>
              <a:t>APPLY GRAVITY, AERO LOADS, THERMAL STRESS, AND ELECTROMAGNETIC FORCES IN REAL-TIME</a:t>
            </a:r>
            <a:r>
              <a:rPr dirty="0">
                <a:solidFill>
                  <a:srgbClr val="4A5653"/>
                </a:solidFill>
                <a:latin typeface="Space Mono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4438" y="5758532"/>
            <a:ext cx="3200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rgbClr val="364946"/>
                </a:solidFill>
                <a:latin typeface="JetBrains Mono Ultra-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413" y="6221209"/>
            <a:ext cx="33604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>
                <a:solidFill>
                  <a:srgbClr val="364946"/>
                </a:solidFill>
                <a:latin typeface="JetBrains Mono Ultra-Bold"/>
              </a:rPr>
              <a:t>VISUALIZE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6930107"/>
            <a:ext cx="3652838" cy="1025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60"/>
              </a:lnSpc>
              <a:spcBef>
                <a:spcPct val="0"/>
              </a:spcBef>
            </a:pPr>
            <a:r>
              <a:rPr b="1" dirty="0">
                <a:solidFill>
                  <a:srgbClr val="A7A18B"/>
                </a:solidFill>
                <a:latin typeface="JetBrains Mono Medium"/>
              </a:rPr>
              <a:t>SEE VECTOR STRESS, TURBULENCE, </a:t>
            </a:r>
            <a:r>
              <a:rPr lang="en-US" b="1" dirty="0">
                <a:solidFill>
                  <a:srgbClr val="A7A18B"/>
                </a:solidFill>
                <a:latin typeface="JetBrains Mono Medium"/>
              </a:rPr>
              <a:t>FORCES, etc. </a:t>
            </a:r>
            <a:r>
              <a:rPr b="1" dirty="0">
                <a:solidFill>
                  <a:srgbClr val="A7A18B"/>
                </a:solidFill>
                <a:latin typeface="JetBrains Mono Medium"/>
              </a:rPr>
              <a:t>UPDATE IN REAL TIME AS PARAMETERS CHANGE.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2582" y="5636884"/>
            <a:ext cx="3200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rgbClr val="364946"/>
                </a:solidFill>
                <a:latin typeface="JetBrains Mono Ultra-Bol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8759" y="6221209"/>
            <a:ext cx="33604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>
                <a:solidFill>
                  <a:srgbClr val="364946"/>
                </a:solidFill>
                <a:latin typeface="JetBrains Mono Ultra-Bold"/>
              </a:rPr>
              <a:t>OPTIMIZE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9226" y="6712054"/>
            <a:ext cx="3617593" cy="1282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60"/>
              </a:lnSpc>
              <a:spcBef>
                <a:spcPct val="0"/>
              </a:spcBef>
            </a:pPr>
            <a:r>
              <a:rPr b="1" dirty="0">
                <a:solidFill>
                  <a:srgbClr val="A7A18B"/>
                </a:solidFill>
                <a:latin typeface="JetBrains Mono Medium"/>
              </a:rPr>
              <a:t>AI IDENTIFIES CRITICAL FAILURE POINTS AND SUGGESTS AUTONOMOUS MATERIAL AND STRUCTURAL IMPROVEMENTS.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64531" y="2418828"/>
            <a:ext cx="2966219" cy="28854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sz="2100" b="1" dirty="0">
                <a:solidFill>
                  <a:srgbClr val="364946"/>
                </a:solidFill>
                <a:latin typeface="JetBrains Mono Bold"/>
              </a:rPr>
              <a:t>A 3D UNIVERSAL LABORATORY WHERE USERS BUILD ANY PHYSICAL SYSTEM, APPLY REAL-WORLD MULTIPHYSICS FORCES, AND LET AI OPTIMIZE THE DESIGN.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7250" y="631425"/>
            <a:ext cx="16573500" cy="14288"/>
          </a:xfrm>
          <a:prstGeom prst="rect">
            <a:avLst/>
          </a:prstGeom>
          <a:solidFill>
            <a:srgbClr val="C2B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28" name="TextBox 18">
            <a:extLst>
              <a:ext uri="{FF2B5EF4-FFF2-40B4-BE49-F238E27FC236}">
                <a16:creationId xmlns:a16="http://schemas.microsoft.com/office/drawing/2014/main" id="{8BD436A4-06AA-D127-53CB-2C576197A225}"/>
              </a:ext>
            </a:extLst>
          </p:cNvPr>
          <p:cNvSpPr txBox="1"/>
          <p:nvPr/>
        </p:nvSpPr>
        <p:spPr>
          <a:xfrm>
            <a:off x="7781386" y="369931"/>
            <a:ext cx="2725228" cy="24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A7A18B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THE SOLUTION</a:t>
            </a:r>
          </a:p>
        </p:txBody>
      </p:sp>
      <p:pic>
        <p:nvPicPr>
          <p:cNvPr id="31" name="Picture 30" descr="Photo physics lab with magnetic fields vector compasses and electromagnets">
            <a:extLst>
              <a:ext uri="{FF2B5EF4-FFF2-40B4-BE49-F238E27FC236}">
                <a16:creationId xmlns:a16="http://schemas.microsoft.com/office/drawing/2014/main" id="{6F912D92-2755-9053-6C7E-24B3C7E6AE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2588" y="2358403"/>
            <a:ext cx="5100840" cy="562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061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66385" y="729227"/>
            <a:ext cx="17355230" cy="0"/>
          </a:xfrm>
          <a:prstGeom prst="line">
            <a:avLst/>
          </a:prstGeom>
          <a:ln w="9525" cap="flat">
            <a:solidFill>
              <a:srgbClr val="A7A18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1028700" y="9263062"/>
            <a:ext cx="16230600" cy="0"/>
          </a:xfrm>
          <a:prstGeom prst="line">
            <a:avLst/>
          </a:prstGeom>
          <a:ln w="9525" cap="flat">
            <a:solidFill>
              <a:srgbClr val="A7A18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6248400" y="6057901"/>
            <a:ext cx="5271631" cy="3200400"/>
            <a:chOff x="0" y="0"/>
            <a:chExt cx="849018" cy="4837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9017" cy="483741"/>
            </a:xfrm>
            <a:custGeom>
              <a:avLst/>
              <a:gdLst/>
              <a:ahLst/>
              <a:cxnLst/>
              <a:rect l="l" t="t" r="r" b="b"/>
              <a:pathLst>
                <a:path w="849017" h="483741">
                  <a:moveTo>
                    <a:pt x="0" y="0"/>
                  </a:moveTo>
                  <a:lnTo>
                    <a:pt x="849017" y="0"/>
                  </a:lnTo>
                  <a:lnTo>
                    <a:pt x="849017" y="483741"/>
                  </a:lnTo>
                  <a:lnTo>
                    <a:pt x="0" y="483741"/>
                  </a:lnTo>
                  <a:close/>
                </a:path>
              </a:pathLst>
            </a:custGeom>
            <a:blipFill>
              <a:blip r:embed="rId2"/>
              <a:stretch>
                <a:fillRect t="-8556" b="-8556"/>
              </a:stretch>
            </a:blipFill>
          </p:spPr>
        </p:sp>
      </p:grpSp>
      <p:sp>
        <p:nvSpPr>
          <p:cNvPr id="6" name="AutoShape 6"/>
          <p:cNvSpPr/>
          <p:nvPr/>
        </p:nvSpPr>
        <p:spPr>
          <a:xfrm>
            <a:off x="1028700" y="5905500"/>
            <a:ext cx="16230600" cy="0"/>
          </a:xfrm>
          <a:prstGeom prst="line">
            <a:avLst/>
          </a:prstGeom>
          <a:ln w="9525" cap="flat">
            <a:solidFill>
              <a:srgbClr val="A7A18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1520031" y="6755793"/>
            <a:ext cx="0" cy="2502507"/>
          </a:xfrm>
          <a:prstGeom prst="line">
            <a:avLst/>
          </a:prstGeom>
          <a:ln w="9525" cap="flat">
            <a:solidFill>
              <a:srgbClr val="A7A18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7910671" y="1734587"/>
            <a:ext cx="9348630" cy="3514804"/>
            <a:chOff x="0" y="0"/>
            <a:chExt cx="1511577" cy="13224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11577" cy="1322458"/>
            </a:xfrm>
            <a:custGeom>
              <a:avLst/>
              <a:gdLst/>
              <a:ahLst/>
              <a:cxnLst/>
              <a:rect l="l" t="t" r="r" b="b"/>
              <a:pathLst>
                <a:path w="1511577" h="1322458">
                  <a:moveTo>
                    <a:pt x="0" y="0"/>
                  </a:moveTo>
                  <a:lnTo>
                    <a:pt x="1511577" y="0"/>
                  </a:lnTo>
                  <a:lnTo>
                    <a:pt x="1511577" y="1322458"/>
                  </a:lnTo>
                  <a:lnTo>
                    <a:pt x="0" y="1322458"/>
                  </a:lnTo>
                  <a:close/>
                </a:path>
              </a:pathLst>
            </a:custGeom>
            <a:solidFill>
              <a:srgbClr val="36494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511577" cy="1351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910670" y="361131"/>
            <a:ext cx="2466659" cy="24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A7A18B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THE BIG PICTURE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5541" y="2304902"/>
            <a:ext cx="9162510" cy="749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6500" b="1" spc="-260" dirty="0">
                <a:solidFill>
                  <a:srgbClr val="364946"/>
                </a:solidFill>
                <a:latin typeface="Telegraf Bold"/>
                <a:ea typeface="Telegraf Bold"/>
                <a:cs typeface="Telegraf Bold"/>
                <a:sym typeface="Telegraf Bold"/>
              </a:rPr>
              <a:t>How this Helps?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7322246"/>
            <a:ext cx="4838700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IN" sz="2000" b="1" dirty="0">
                <a:solidFill>
                  <a:srgbClr val="262F13"/>
                </a:solidFill>
                <a:latin typeface="JetBrains Mono" panose="020B0604020202020204" charset="0"/>
              </a:rPr>
              <a:t>ALMOST EVERY STRUCTURE WE RELY ON IS DESIGNED TO WITHSTAND FORCES WE CAN’T SEE — FROM MOVING LOADS AND WIND TO VIBRATIONS, PRESSURE, AND TIME</a:t>
            </a:r>
            <a:r>
              <a:rPr lang="en-IN" sz="2000" b="1" dirty="0">
                <a:solidFill>
                  <a:srgbClr val="262F13"/>
                </a:solidFill>
              </a:rPr>
              <a:t>.</a:t>
            </a:r>
            <a:endParaRPr lang="en-US" sz="2000" b="1" dirty="0">
              <a:solidFill>
                <a:srgbClr val="262F13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04202" y="6733615"/>
            <a:ext cx="4305998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364946"/>
                </a:solidFill>
                <a:latin typeface="JetBrains Mono Ultra-Bold"/>
                <a:ea typeface="JetBrains Mono Ultra-Bold"/>
                <a:cs typeface="JetBrains Mono Ultra-Bold"/>
                <a:sym typeface="JetBrains Mono Ultra-Bold"/>
              </a:rPr>
              <a:t>THE EVERYDAY MIRACLE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529642" y="6698228"/>
            <a:ext cx="4571996" cy="1938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IN" b="1" dirty="0">
                <a:latin typeface="JetBrains Mono" panose="020B0604020202020204" charset="0"/>
              </a:rPr>
              <a:t>DESIGNING THESE STRUCTURES SAFELY REQUIRES COMPLEX ENGINEERING, EXTENSIVE SIMULATION, AND COUNTLESS ITERATIONS. WHAT IF AI COULD HELP US BUILD, TEST, PREDICT, AND OPTIMIZE THEM BEFORE THEY EVER EXIST?</a:t>
            </a:r>
            <a:endParaRPr lang="en-US" b="1" dirty="0">
              <a:solidFill>
                <a:srgbClr val="364946"/>
              </a:solidFill>
              <a:latin typeface="JetBrains Mono" panose="020B0604020202020204" charset="0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529642" y="6210742"/>
            <a:ext cx="4729658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400" b="1" spc="179" dirty="0">
                <a:solidFill>
                  <a:srgbClr val="364946"/>
                </a:solidFill>
                <a:latin typeface="JetBrains Mono Ultra-Bold"/>
                <a:ea typeface="JetBrains Mono Ultra-Bold"/>
                <a:cs typeface="JetBrains Mono Ultra-Bold"/>
                <a:sym typeface="JetBrains Mono Ultra-Bold"/>
              </a:rPr>
              <a:t>WHY IT'S EXTRAORDINARY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77203" y="1789661"/>
            <a:ext cx="9445256" cy="33597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768" b="1" u="sng" spc="276" dirty="0">
                <a:solidFill>
                  <a:schemeClr val="bg1"/>
                </a:solidFill>
                <a:latin typeface="JetBrains Mono Ultra-Bold"/>
                <a:ea typeface="JetBrains Mono Ultra-Bold"/>
                <a:cs typeface="JetBrains Mono Ultra-Bold"/>
                <a:sym typeface="JetBrains Mono Ultra-Bold"/>
              </a:rPr>
              <a:t>BUILD. SIMULATE. PREDICT. OPTIMIZE.</a:t>
            </a:r>
          </a:p>
          <a:p>
            <a:r>
              <a:rPr lang="en-IN" sz="2600" b="1" dirty="0">
                <a:solidFill>
                  <a:schemeClr val="bg1"/>
                </a:solidFill>
                <a:latin typeface="JetBrains Mono" panose="020B0604020202020204" charset="0"/>
              </a:rPr>
              <a:t>AN AI-POWERED 3D PHYSICS SIMULATION PLATFORM THAT LETS USERS DESIGN STRUCTURES, TEST THEM UNDER REALISTIC LOADS, VISUALIZE STRESS AND DEFORMATION, PREDICT POTENTIAL FAILURES, AND INTELLIGENTLY OPTIMIZE THEIR DESIGNS — ALL BEFORE THEY ARE BUILT.</a:t>
            </a:r>
          </a:p>
          <a:p>
            <a:pPr algn="l">
              <a:lnSpc>
                <a:spcPts val="3875"/>
              </a:lnSpc>
              <a:spcBef>
                <a:spcPct val="0"/>
              </a:spcBef>
            </a:pPr>
            <a:r>
              <a:rPr lang="en-US" sz="2768" b="1" spc="276" dirty="0">
                <a:solidFill>
                  <a:srgbClr val="DDDACF"/>
                </a:solidFill>
                <a:latin typeface="JetBrains Mono Ultra-Bold"/>
                <a:ea typeface="JetBrains Mono Ultra-Bold"/>
                <a:cs typeface="JetBrains Mono Ultra-Bold"/>
                <a:sym typeface="JetBrains Mono Ultra-Bold"/>
              </a:rPr>
              <a:t> </a:t>
            </a:r>
          </a:p>
        </p:txBody>
      </p:sp>
      <p:sp>
        <p:nvSpPr>
          <p:cNvPr id="20" name="AutoShape 20"/>
          <p:cNvSpPr/>
          <p:nvPr/>
        </p:nvSpPr>
        <p:spPr>
          <a:xfrm flipV="1">
            <a:off x="765541" y="3051686"/>
            <a:ext cx="5677598" cy="35642"/>
          </a:xfrm>
          <a:prstGeom prst="line">
            <a:avLst/>
          </a:prstGeom>
          <a:ln w="9525" cap="flat">
            <a:solidFill>
              <a:srgbClr val="81A19C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66385" y="729227"/>
            <a:ext cx="17355230" cy="0"/>
          </a:xfrm>
          <a:prstGeom prst="line">
            <a:avLst/>
          </a:prstGeom>
          <a:ln w="9525" cap="flat">
            <a:solidFill>
              <a:srgbClr val="A7A18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1028700" y="9263062"/>
            <a:ext cx="16230600" cy="0"/>
          </a:xfrm>
          <a:prstGeom prst="line">
            <a:avLst/>
          </a:prstGeom>
          <a:ln w="9525" cap="flat">
            <a:solidFill>
              <a:srgbClr val="A7A18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028700" y="4977361"/>
            <a:ext cx="3793988" cy="2585500"/>
            <a:chOff x="0" y="0"/>
            <a:chExt cx="733387" cy="4837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33387" cy="483741"/>
            </a:xfrm>
            <a:custGeom>
              <a:avLst/>
              <a:gdLst/>
              <a:ahLst/>
              <a:cxnLst/>
              <a:rect l="l" t="t" r="r" b="b"/>
              <a:pathLst>
                <a:path w="733387" h="483741">
                  <a:moveTo>
                    <a:pt x="0" y="0"/>
                  </a:moveTo>
                  <a:lnTo>
                    <a:pt x="733387" y="0"/>
                  </a:lnTo>
                  <a:lnTo>
                    <a:pt x="733387" y="483741"/>
                  </a:lnTo>
                  <a:lnTo>
                    <a:pt x="0" y="483741"/>
                  </a:lnTo>
                  <a:close/>
                </a:path>
              </a:pathLst>
            </a:custGeom>
            <a:blipFill>
              <a:blip r:embed="rId2"/>
              <a:stretch>
                <a:fillRect t="-1270" b="-1270"/>
              </a:stretch>
            </a:blipFill>
          </p:spPr>
        </p:sp>
      </p:grpSp>
      <p:sp>
        <p:nvSpPr>
          <p:cNvPr id="12" name="AutoShape 12"/>
          <p:cNvSpPr/>
          <p:nvPr/>
        </p:nvSpPr>
        <p:spPr>
          <a:xfrm>
            <a:off x="4827450" y="4977361"/>
            <a:ext cx="0" cy="4285701"/>
          </a:xfrm>
          <a:prstGeom prst="line">
            <a:avLst/>
          </a:prstGeom>
          <a:ln w="9525" cap="flat">
            <a:solidFill>
              <a:srgbClr val="A7A18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8962587" y="4972599"/>
            <a:ext cx="0" cy="4285701"/>
          </a:xfrm>
          <a:prstGeom prst="line">
            <a:avLst/>
          </a:prstGeom>
          <a:ln w="9525" cap="flat">
            <a:solidFill>
              <a:srgbClr val="A7A18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13109000" y="4972599"/>
            <a:ext cx="0" cy="4285701"/>
          </a:xfrm>
          <a:prstGeom prst="line">
            <a:avLst/>
          </a:prstGeom>
          <a:ln w="9525" cap="flat">
            <a:solidFill>
              <a:srgbClr val="A7A18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7910670" y="361131"/>
            <a:ext cx="2466659" cy="24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A7A18B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THE MAIN TYPES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2025" y="1884632"/>
            <a:ext cx="15258021" cy="1415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02"/>
              </a:lnSpc>
            </a:pPr>
            <a:r>
              <a:rPr lang="en-US" sz="11074" b="1" spc="-442" dirty="0">
                <a:solidFill>
                  <a:srgbClr val="364946"/>
                </a:solidFill>
                <a:latin typeface="Telegraf Bold"/>
                <a:ea typeface="Telegraf Bold"/>
                <a:cs typeface="Telegraf Bold"/>
                <a:sym typeface="Telegraf Bold"/>
              </a:rPr>
              <a:t>FOUR WAYS TO SPAN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8175321"/>
            <a:ext cx="3451964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IN" sz="1400" b="1" dirty="0">
                <a:solidFill>
                  <a:srgbClr val="A7A18B"/>
                </a:solidFill>
                <a:latin typeface="JetBrains Mono Medium"/>
              </a:rPr>
              <a:t>A SIMPLE STRUCTURE THAT DISTRIBUTES LOADS THROUGH ITS DECK AND SUPPORTS, DEMONSTRATING FORCE, STRESS, AND DEFORMATION.</a:t>
            </a:r>
            <a:endParaRPr lang="en-US" sz="1400" b="1" dirty="0">
              <a:solidFill>
                <a:srgbClr val="A7A18B"/>
              </a:solidFill>
              <a:latin typeface="JetBrains Mono Medium"/>
              <a:sym typeface="JetBrains Mono Medium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28700" y="7788832"/>
            <a:ext cx="894733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364946"/>
                </a:solidFill>
                <a:latin typeface="JetBrains Mono Ultra-Bold"/>
                <a:ea typeface="JetBrains Mono Ultra-Bold"/>
                <a:cs typeface="JetBrains Mono Ultra-Bold"/>
                <a:sym typeface="JetBrains Mono Ultra-Bold"/>
              </a:rPr>
              <a:t>BRIDGE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74237" y="8175321"/>
            <a:ext cx="3262837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IN" sz="1400" b="1" dirty="0">
                <a:solidFill>
                  <a:srgbClr val="A7A18B"/>
                </a:solidFill>
                <a:latin typeface="JetBrains Mono Medium"/>
              </a:rPr>
              <a:t>A SIMPLIFIED ATOMIC MODEL SHOWING PARTICLES INTERACTING THROUGH FUNDAMENTAL FORCES AND DYNAMIC MOTION.</a:t>
            </a:r>
            <a:endParaRPr lang="en-US" sz="1400" b="1" dirty="0">
              <a:solidFill>
                <a:srgbClr val="A7A18B"/>
              </a:solidFill>
              <a:latin typeface="JetBrains Mono Medium"/>
              <a:sym typeface="JetBrains Mono Mediu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5174237" y="7788832"/>
            <a:ext cx="894733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364946"/>
                </a:solidFill>
                <a:latin typeface="JetBrains Mono Ultra-Bold"/>
                <a:ea typeface="JetBrains Mono Ultra-Bold"/>
                <a:cs typeface="JetBrains Mono Ultra-Bold"/>
                <a:sym typeface="JetBrains Mono Ultra-Bold"/>
              </a:rPr>
              <a:t>ATOM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22899" y="8175321"/>
            <a:ext cx="3631100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IN" sz="1400" b="1" dirty="0">
                <a:solidFill>
                  <a:srgbClr val="A7A18B"/>
                </a:solidFill>
                <a:latin typeface="JetBrains Mono Medium"/>
              </a:rPr>
              <a:t>A PLANETARY SYSTEM DEMONSTRATING GRAVITATIONAL ATTRACTION, ORBITAL MECHANICS, AND THE MOTION OF CELESTIAL BODIES.</a:t>
            </a:r>
            <a:r>
              <a:rPr lang="en-IN" sz="1400" dirty="0"/>
              <a:t> </a:t>
            </a:r>
            <a:endParaRPr lang="en-US" sz="1400" b="1" dirty="0">
              <a:solidFill>
                <a:srgbClr val="A7A18B"/>
              </a:solidFill>
              <a:latin typeface="JetBrains Mono Medium"/>
              <a:sym typeface="JetBrains Mono Medium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322899" y="7788832"/>
            <a:ext cx="1789325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364946"/>
                </a:solidFill>
                <a:latin typeface="JetBrains Mono Ultra-Bold"/>
                <a:ea typeface="JetBrains Mono Ultra-Bold"/>
                <a:cs typeface="JetBrains Mono Ultra-Bold"/>
                <a:sym typeface="JetBrains Mono Ultra-Bold"/>
              </a:rPr>
              <a:t>SOLAR SYSTEM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465312" y="8175321"/>
            <a:ext cx="3784460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IN" sz="1400" b="1" dirty="0">
                <a:solidFill>
                  <a:srgbClr val="A7A18B"/>
                </a:solidFill>
                <a:latin typeface="JetBrains Mono Medium"/>
              </a:rPr>
              <a:t>A SWINGING SYSTEM THAT DEMONSTRATES GRAVITY, ACCELERATION, MOMENTUM, AND THE CONVERSION BETWEEN POTENTIAL AND KINETIC ENERGY.</a:t>
            </a:r>
            <a:endParaRPr lang="en-US" sz="1400" b="1" dirty="0">
              <a:solidFill>
                <a:srgbClr val="A7A18B"/>
              </a:solidFill>
              <a:latin typeface="JetBrains Mono Medium"/>
              <a:sym typeface="JetBrains Mono Medium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3411200" y="7788832"/>
            <a:ext cx="2581678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1" spc="-53" dirty="0">
                <a:solidFill>
                  <a:srgbClr val="364946"/>
                </a:solidFill>
                <a:latin typeface="JetBrains Mono Ultra-Bold"/>
                <a:ea typeface="JetBrains Mono Ultra-Bold"/>
                <a:cs typeface="JetBrains Mono Ultra-Bold"/>
                <a:sym typeface="JetBrains Mono Ultra-Bold"/>
              </a:rPr>
              <a:t>PENDULUM</a:t>
            </a:r>
            <a:endParaRPr lang="en-US" sz="1800" b="1" spc="-53" dirty="0">
              <a:solidFill>
                <a:srgbClr val="364946"/>
              </a:solidFill>
              <a:latin typeface="JetBrains Mono Ultra-Bold"/>
              <a:ea typeface="JetBrains Mono Ultra-Bold"/>
              <a:cs typeface="JetBrains Mono Ultra-Bold"/>
              <a:sym typeface="JetBrains Mono Ultra-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28700" y="3395183"/>
            <a:ext cx="7933887" cy="9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600" i="1" dirty="0">
                <a:solidFill>
                  <a:srgbClr val="364946"/>
                </a:solidFill>
                <a:latin typeface="JetBrains Mono Italics"/>
              </a:rPr>
              <a:t>MOST STRUCTURES ARE BUILT AROUND A HANDFUL OF FUNDAMENTAL DESIGN PRINCIPLES, EACH SUITED TO DIFFERENT LOADS, MATERIALS, ENVIRONMENTS, AND ENGINEERING CHALLENGES.</a:t>
            </a:r>
          </a:p>
          <a:p>
            <a:pPr algn="l">
              <a:lnSpc>
                <a:spcPts val="1920"/>
              </a:lnSpc>
            </a:pPr>
            <a:endParaRPr lang="en-US" sz="1600" i="1" dirty="0">
              <a:solidFill>
                <a:srgbClr val="364946"/>
              </a:solidFill>
              <a:latin typeface="JetBrains Mono Italics"/>
              <a:ea typeface="JetBrains Mono Italics"/>
              <a:cs typeface="JetBrains Mono Italics"/>
              <a:sym typeface="JetBrains Mono Italics"/>
            </a:endParaRPr>
          </a:p>
        </p:txBody>
      </p:sp>
      <p:pic>
        <p:nvPicPr>
          <p:cNvPr id="28" name="Picture 27" descr="Model of a lithium atom  atom stock pictures, royalty-free photos &amp; images">
            <a:extLst>
              <a:ext uri="{FF2B5EF4-FFF2-40B4-BE49-F238E27FC236}">
                <a16:creationId xmlns:a16="http://schemas.microsoft.com/office/drawing/2014/main" id="{4B001012-45CC-80E2-5EBF-675A0F1FB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716" y="4953727"/>
            <a:ext cx="3951108" cy="2585953"/>
          </a:xfrm>
          <a:prstGeom prst="rect">
            <a:avLst/>
          </a:prstGeom>
        </p:spPr>
      </p:pic>
      <p:pic>
        <p:nvPicPr>
          <p:cNvPr id="29" name="Picture 28" descr="Solar system, artwork">
            <a:extLst>
              <a:ext uri="{FF2B5EF4-FFF2-40B4-BE49-F238E27FC236}">
                <a16:creationId xmlns:a16="http://schemas.microsoft.com/office/drawing/2014/main" id="{CC5A7520-146E-BAF4-4697-DAA17B1328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1869" y="4953726"/>
            <a:ext cx="4097131" cy="2585969"/>
          </a:xfrm>
          <a:prstGeom prst="rect">
            <a:avLst/>
          </a:prstGeom>
        </p:spPr>
      </p:pic>
      <p:pic>
        <p:nvPicPr>
          <p:cNvPr id="30" name="Picture 29" descr="negative power classic newton cradle with opposite power pendulum balls stock pictures, royalty-free photos &amp; images">
            <a:extLst>
              <a:ext uri="{FF2B5EF4-FFF2-40B4-BE49-F238E27FC236}">
                <a16:creationId xmlns:a16="http://schemas.microsoft.com/office/drawing/2014/main" id="{3C7C09B8-8F5D-70FA-A867-01FB829901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62169" y="4972599"/>
            <a:ext cx="4097131" cy="25859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66385" y="729227"/>
            <a:ext cx="17355230" cy="0"/>
          </a:xfrm>
          <a:prstGeom prst="line">
            <a:avLst/>
          </a:prstGeom>
          <a:ln w="9525" cap="flat">
            <a:solidFill>
              <a:srgbClr val="81A19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10916439" y="3213457"/>
            <a:ext cx="6342861" cy="0"/>
          </a:xfrm>
          <a:prstGeom prst="line">
            <a:avLst/>
          </a:prstGeom>
          <a:ln w="9525" cap="flat">
            <a:solidFill>
              <a:srgbClr val="81A19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0916439" y="5226817"/>
            <a:ext cx="6342861" cy="0"/>
          </a:xfrm>
          <a:prstGeom prst="line">
            <a:avLst/>
          </a:prstGeom>
          <a:ln w="9525" cap="flat">
            <a:solidFill>
              <a:srgbClr val="81A19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10916439" y="7240177"/>
            <a:ext cx="6342861" cy="0"/>
          </a:xfrm>
          <a:prstGeom prst="line">
            <a:avLst/>
          </a:prstGeom>
          <a:ln w="9525" cap="flat">
            <a:solidFill>
              <a:srgbClr val="81A19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10916439" y="9253538"/>
            <a:ext cx="6342861" cy="0"/>
          </a:xfrm>
          <a:prstGeom prst="line">
            <a:avLst/>
          </a:prstGeom>
          <a:ln w="9525" cap="flat">
            <a:solidFill>
              <a:srgbClr val="81A19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flipH="1">
            <a:off x="16583523" y="1743719"/>
            <a:ext cx="0" cy="7514581"/>
          </a:xfrm>
          <a:prstGeom prst="line">
            <a:avLst/>
          </a:prstGeom>
          <a:ln w="9525" cap="flat">
            <a:solidFill>
              <a:srgbClr val="81A19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7910670" y="361131"/>
            <a:ext cx="2466659" cy="24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88A0A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FORCES AT WORK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9176" y="601779"/>
            <a:ext cx="17509645" cy="1376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173"/>
              </a:lnSpc>
            </a:pPr>
            <a:r>
              <a:rPr lang="en-US" sz="6000" b="1" spc="-579" dirty="0">
                <a:solidFill>
                  <a:srgbClr val="364946"/>
                </a:solidFill>
                <a:latin typeface="Telegraf Bold"/>
                <a:ea typeface="Telegraf Bold"/>
                <a:cs typeface="Telegraf Bold"/>
                <a:sym typeface="Telegraf Bold"/>
              </a:rPr>
              <a:t>PHYSICS SIMULATION				PARAMETERS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2819" y="3495094"/>
            <a:ext cx="7150099" cy="5991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99"/>
              </a:lnSpc>
            </a:pPr>
            <a:r>
              <a:rPr lang="en-IN" sz="1999" b="1" dirty="0">
                <a:solidFill>
                  <a:srgbClr val="364946"/>
                </a:solidFill>
                <a:latin typeface="JetBrains Mono Bold"/>
              </a:rPr>
              <a:t>EVERY PHYSICAL SYSTEM IS A CONSTANT INTERPLAY OF FORCES, MOTION, ENERGY, AND MATTER.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870567" y="2067369"/>
            <a:ext cx="2387415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400" b="1" dirty="0">
                <a:solidFill>
                  <a:srgbClr val="36494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COMPRESSION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870567" y="2509045"/>
            <a:ext cx="4866573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88A0A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THE SQUEEZING FORCE THAT ARCHES AND PIERS ARE BUILT TO RESIST.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16439" y="3757079"/>
            <a:ext cx="2387415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400" b="1" dirty="0">
                <a:solidFill>
                  <a:srgbClr val="36494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TENSION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916439" y="4194913"/>
            <a:ext cx="4866573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88A0A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THE PULLING FORCE CARRIED BY THE CABLES OF SUSPENSION BRIDGES.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916439" y="5770439"/>
            <a:ext cx="2387415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400" b="1" dirty="0">
                <a:solidFill>
                  <a:srgbClr val="36494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LOAD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916439" y="6208273"/>
            <a:ext cx="4866573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88A0A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THE COMBINED WEIGHT OF THE STRUCTURE, TRAFFIC, AND CONDITIONS LIKE WIND AND SNOW.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916439" y="7783800"/>
            <a:ext cx="2387415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400" b="1" dirty="0">
                <a:solidFill>
                  <a:srgbClr val="36494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BALANCE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916439" y="8221634"/>
            <a:ext cx="4866573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88A0A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A BRIDGE STANDS BECAUSE THESE FORCES ARE CAREFULLY HELD IN EQUILIBRIUM.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737749" y="2434290"/>
            <a:ext cx="521551" cy="24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364946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01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737749" y="4442547"/>
            <a:ext cx="521551" cy="24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364946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02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737749" y="6450803"/>
            <a:ext cx="521551" cy="24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364946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737749" y="8459060"/>
            <a:ext cx="521551" cy="24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364946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04</a:t>
            </a:r>
          </a:p>
        </p:txBody>
      </p:sp>
      <p:pic>
        <p:nvPicPr>
          <p:cNvPr id="27" name="Picture 26" descr="air flow simulation of a rectangular vent using computational fluid dynamics tools.">
            <a:extLst>
              <a:ext uri="{FF2B5EF4-FFF2-40B4-BE49-F238E27FC236}">
                <a16:creationId xmlns:a16="http://schemas.microsoft.com/office/drawing/2014/main" id="{69A7FBCF-9AD6-B117-5902-AB54CFC9F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299" y="4562871"/>
            <a:ext cx="81407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9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66385" y="729227"/>
            <a:ext cx="17355230" cy="0"/>
          </a:xfrm>
          <a:prstGeom prst="line">
            <a:avLst/>
          </a:prstGeom>
          <a:ln w="9525" cap="flat">
            <a:solidFill>
              <a:srgbClr val="81A19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028700" y="3591744"/>
            <a:ext cx="4670806" cy="2766603"/>
            <a:chOff x="0" y="0"/>
            <a:chExt cx="1230171" cy="7286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30171" cy="728653"/>
            </a:xfrm>
            <a:custGeom>
              <a:avLst/>
              <a:gdLst/>
              <a:ahLst/>
              <a:cxnLst/>
              <a:rect l="l" t="t" r="r" b="b"/>
              <a:pathLst>
                <a:path w="1230171" h="728653">
                  <a:moveTo>
                    <a:pt x="0" y="0"/>
                  </a:moveTo>
                  <a:lnTo>
                    <a:pt x="1230171" y="0"/>
                  </a:lnTo>
                  <a:lnTo>
                    <a:pt x="1230171" y="728653"/>
                  </a:lnTo>
                  <a:lnTo>
                    <a:pt x="0" y="728653"/>
                  </a:lnTo>
                  <a:close/>
                </a:path>
              </a:pathLst>
            </a:custGeom>
            <a:solidFill>
              <a:srgbClr val="364946"/>
            </a:solidFill>
            <a:ln w="9525" cap="sq">
              <a:solidFill>
                <a:srgbClr val="81A19C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230171" cy="757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6491697"/>
            <a:ext cx="4670806" cy="2766603"/>
            <a:chOff x="0" y="0"/>
            <a:chExt cx="1230171" cy="7286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30171" cy="728653"/>
            </a:xfrm>
            <a:custGeom>
              <a:avLst/>
              <a:gdLst/>
              <a:ahLst/>
              <a:cxnLst/>
              <a:rect l="l" t="t" r="r" b="b"/>
              <a:pathLst>
                <a:path w="1230171" h="728653">
                  <a:moveTo>
                    <a:pt x="0" y="0"/>
                  </a:moveTo>
                  <a:lnTo>
                    <a:pt x="1230171" y="0"/>
                  </a:lnTo>
                  <a:lnTo>
                    <a:pt x="1230171" y="728653"/>
                  </a:lnTo>
                  <a:lnTo>
                    <a:pt x="0" y="728653"/>
                  </a:lnTo>
                  <a:close/>
                </a:path>
              </a:pathLst>
            </a:custGeom>
            <a:solidFill>
              <a:srgbClr val="364946"/>
            </a:solidFill>
            <a:ln w="9525" cap="sq">
              <a:solidFill>
                <a:srgbClr val="81A19C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230171" cy="757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96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563912" y="3591744"/>
            <a:ext cx="4670806" cy="2766603"/>
            <a:chOff x="0" y="0"/>
            <a:chExt cx="1230171" cy="72865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0171" cy="728653"/>
            </a:xfrm>
            <a:custGeom>
              <a:avLst/>
              <a:gdLst/>
              <a:ahLst/>
              <a:cxnLst/>
              <a:rect l="l" t="t" r="r" b="b"/>
              <a:pathLst>
                <a:path w="1230171" h="728653">
                  <a:moveTo>
                    <a:pt x="0" y="0"/>
                  </a:moveTo>
                  <a:lnTo>
                    <a:pt x="1230171" y="0"/>
                  </a:lnTo>
                  <a:lnTo>
                    <a:pt x="1230171" y="728653"/>
                  </a:lnTo>
                  <a:lnTo>
                    <a:pt x="0" y="728653"/>
                  </a:lnTo>
                  <a:close/>
                </a:path>
              </a:pathLst>
            </a:custGeom>
            <a:solidFill>
              <a:srgbClr val="364946"/>
            </a:solidFill>
            <a:ln w="9525" cap="sq">
              <a:solidFill>
                <a:srgbClr val="81A19C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230171" cy="757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588494" y="6491697"/>
            <a:ext cx="4670806" cy="2766603"/>
            <a:chOff x="0" y="0"/>
            <a:chExt cx="1230171" cy="72865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30171" cy="728653"/>
            </a:xfrm>
            <a:custGeom>
              <a:avLst/>
              <a:gdLst/>
              <a:ahLst/>
              <a:cxnLst/>
              <a:rect l="l" t="t" r="r" b="b"/>
              <a:pathLst>
                <a:path w="1230171" h="728653">
                  <a:moveTo>
                    <a:pt x="0" y="0"/>
                  </a:moveTo>
                  <a:lnTo>
                    <a:pt x="1230171" y="0"/>
                  </a:lnTo>
                  <a:lnTo>
                    <a:pt x="1230171" y="728653"/>
                  </a:lnTo>
                  <a:lnTo>
                    <a:pt x="0" y="728653"/>
                  </a:lnTo>
                  <a:close/>
                </a:path>
              </a:pathLst>
            </a:custGeom>
            <a:solidFill>
              <a:srgbClr val="364946"/>
            </a:solidFill>
            <a:ln w="9525" cap="sq">
              <a:solidFill>
                <a:srgbClr val="81A19C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1230171" cy="757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828499" y="3596507"/>
            <a:ext cx="6631001" cy="5661793"/>
            <a:chOff x="0" y="0"/>
            <a:chExt cx="1281789" cy="109443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81789" cy="1094439"/>
            </a:xfrm>
            <a:custGeom>
              <a:avLst/>
              <a:gdLst/>
              <a:ahLst/>
              <a:cxnLst/>
              <a:rect l="l" t="t" r="r" b="b"/>
              <a:pathLst>
                <a:path w="1281789" h="1094439">
                  <a:moveTo>
                    <a:pt x="0" y="0"/>
                  </a:moveTo>
                  <a:lnTo>
                    <a:pt x="1281789" y="0"/>
                  </a:lnTo>
                  <a:lnTo>
                    <a:pt x="1281789" y="1094439"/>
                  </a:lnTo>
                  <a:lnTo>
                    <a:pt x="0" y="1094439"/>
                  </a:lnTo>
                  <a:close/>
                </a:path>
              </a:pathLst>
            </a:custGeom>
            <a:blipFill>
              <a:blip r:embed="rId2"/>
              <a:stretch>
                <a:fillRect l="-13979" r="-13979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7910670" y="361131"/>
            <a:ext cx="2466659" cy="24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96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88A0AA"/>
                </a:solidFill>
                <a:effectLst/>
                <a:uLnTx/>
                <a:uFillTx/>
                <a:latin typeface="JetBrains Mono Medium"/>
                <a:ea typeface="JetBrains Mono Medium"/>
                <a:cs typeface="JetBrains Mono Medium"/>
                <a:sym typeface="JetBrains Mono Medium"/>
              </a:rPr>
              <a:t>BY THE NUMBERS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1801783"/>
            <a:ext cx="12382500" cy="13094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95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404" b="1" i="0" u="none" strike="noStrike" kern="1200" cap="none" spc="-456" normalizeH="0" baseline="0" noProof="0" dirty="0">
                <a:ln>
                  <a:noFill/>
                </a:ln>
                <a:solidFill>
                  <a:srgbClr val="DDDACF"/>
                </a:solidFill>
                <a:effectLst/>
                <a:uLnTx/>
                <a:uFillTx/>
                <a:latin typeface="Telegraf Bold"/>
                <a:ea typeface="Telegraf Bold"/>
                <a:cs typeface="Telegraf Bold"/>
                <a:sym typeface="Telegraf Bold"/>
              </a:rPr>
              <a:t>FUTURE SCOPE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94762" y="4173690"/>
            <a:ext cx="3710133" cy="641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70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00" b="1" i="0" u="none" strike="noStrike" kern="1200" cap="none" spc="-224" normalizeH="0" baseline="0" noProof="0" dirty="0">
                <a:ln>
                  <a:noFill/>
                </a:ln>
                <a:solidFill>
                  <a:srgbClr val="DDDACF"/>
                </a:solidFill>
                <a:effectLst/>
                <a:uLnTx/>
                <a:uFillTx/>
                <a:latin typeface="Telegraf Bold"/>
                <a:ea typeface="Telegraf Bold"/>
                <a:cs typeface="Telegraf Bold"/>
                <a:sym typeface="Telegraf Bold"/>
              </a:rPr>
              <a:t>EXLPAIN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94762" y="4991664"/>
            <a:ext cx="3710133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88A0AA"/>
                </a:solidFill>
                <a:effectLst/>
                <a:uLnTx/>
                <a:uFillTx/>
                <a:latin typeface="JetBrains Mono Medium"/>
                <a:ea typeface="JetBrains Mono Medium"/>
                <a:cs typeface="JetBrains Mono Medium"/>
                <a:sym typeface="JetBrains Mono Medium"/>
              </a:rPr>
              <a:t>Explain "Why did the object accelerate?".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94762" y="7013224"/>
            <a:ext cx="3710132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00" b="1" i="0" u="none" strike="noStrike" kern="1200" cap="none" spc="-224" normalizeH="0" baseline="0" noProof="0" dirty="0">
                <a:ln>
                  <a:noFill/>
                </a:ln>
                <a:solidFill>
                  <a:srgbClr val="DDDACF"/>
                </a:solidFill>
                <a:effectLst/>
                <a:uLnTx/>
                <a:uFillTx/>
                <a:latin typeface="Telegraf Bold"/>
                <a:ea typeface="Telegraf Bold"/>
                <a:cs typeface="Telegraf Bold"/>
                <a:sym typeface="Telegraf Bold"/>
              </a:rPr>
              <a:t>PREDICT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94762" y="8052621"/>
            <a:ext cx="3710133" cy="777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88A0AA"/>
                </a:solidFill>
                <a:effectLst/>
                <a:uLnTx/>
                <a:uFillTx/>
                <a:latin typeface="JetBrains Mono Medium"/>
                <a:ea typeface="JetBrains Mono Medium"/>
                <a:cs typeface="JetBrains Mono Medium"/>
                <a:sym typeface="JetBrains Mono Medium"/>
              </a:rPr>
              <a:t>Will this structure collapse under this load?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154555" y="4194935"/>
            <a:ext cx="3710133" cy="47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5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-168" normalizeH="0" baseline="0" noProof="0" dirty="0">
                <a:ln>
                  <a:noFill/>
                </a:ln>
                <a:solidFill>
                  <a:srgbClr val="DDDACF"/>
                </a:solidFill>
                <a:effectLst/>
                <a:uLnTx/>
                <a:uFillTx/>
                <a:latin typeface="Telegraf Bold"/>
                <a:ea typeface="Telegraf Bold"/>
                <a:cs typeface="Telegraf Bold"/>
                <a:sym typeface="Telegraf Bold"/>
              </a:rPr>
              <a:t>OPTIMIZE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866305" y="4835247"/>
            <a:ext cx="4286632" cy="777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88A0AA"/>
                </a:solidFill>
                <a:effectLst/>
                <a:uLnTx/>
                <a:uFillTx/>
                <a:latin typeface="JetBrains Mono Medium"/>
                <a:ea typeface="JetBrains Mono Medium"/>
                <a:cs typeface="JetBrains Mono Medium"/>
                <a:sym typeface="JetBrains Mono Medium"/>
              </a:rPr>
              <a:t>Find the configuration requiring the least energy.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154555" y="7094888"/>
            <a:ext cx="3710133" cy="47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5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-168" normalizeH="0" baseline="0" noProof="0" dirty="0">
                <a:ln>
                  <a:noFill/>
                </a:ln>
                <a:solidFill>
                  <a:srgbClr val="DDDACF"/>
                </a:solidFill>
                <a:effectLst/>
                <a:uLnTx/>
                <a:uFillTx/>
                <a:latin typeface="Telegraf Bold"/>
                <a:ea typeface="Telegraf Bold"/>
                <a:cs typeface="Telegraf Bold"/>
                <a:sym typeface="Telegraf Bold"/>
              </a:rPr>
              <a:t>GENERATE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154555" y="7874998"/>
            <a:ext cx="3250057" cy="777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88A0AA"/>
                </a:solidFill>
                <a:effectLst/>
                <a:uLnTx/>
                <a:uFillTx/>
                <a:latin typeface="JetBrains Mono Medium"/>
                <a:ea typeface="JetBrains Mono Medium"/>
                <a:cs typeface="JetBrains Mono Medium"/>
                <a:sym typeface="JetBrains Mono Medium"/>
              </a:rPr>
              <a:t>Create a system that demonstrates projectile motion.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66385" y="729227"/>
            <a:ext cx="17355230" cy="0"/>
          </a:xfrm>
          <a:prstGeom prst="line">
            <a:avLst/>
          </a:prstGeom>
          <a:ln w="9525" cap="flat">
            <a:solidFill>
              <a:srgbClr val="A7A18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466385" y="9482830"/>
            <a:ext cx="17355230" cy="0"/>
          </a:xfrm>
          <a:prstGeom prst="line">
            <a:avLst/>
          </a:prstGeom>
          <a:ln w="9525" cap="flat">
            <a:solidFill>
              <a:srgbClr val="A7A18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1333500" y="3778045"/>
            <a:ext cx="15621000" cy="1188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36"/>
              </a:lnSpc>
            </a:pPr>
            <a:r>
              <a:rPr lang="en-US" sz="10400" b="1" spc="-416" dirty="0">
                <a:solidFill>
                  <a:srgbClr val="364946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4448F5-AF56-F65B-BBC2-A1EA95065767}"/>
              </a:ext>
            </a:extLst>
          </p:cNvPr>
          <p:cNvSpPr txBox="1"/>
          <p:nvPr/>
        </p:nvSpPr>
        <p:spPr>
          <a:xfrm>
            <a:off x="13716656" y="6515100"/>
            <a:ext cx="3656944" cy="1699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800" b="1" spc="179" dirty="0">
                <a:solidFill>
                  <a:schemeClr val="accent3">
                    <a:lumMod val="50000"/>
                  </a:schemeClr>
                </a:solidFill>
                <a:latin typeface="JetBrains Mono Ultra-Bold"/>
                <a:ea typeface="JetBrains Mono Ultra-Bold"/>
                <a:cs typeface="JetBrains Mono Ultra-Bold"/>
                <a:sym typeface="JetBrains Mono Ultra-Bold"/>
              </a:rPr>
              <a:t>TEAM MEMBERS :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800" b="1" spc="179" dirty="0">
                <a:solidFill>
                  <a:schemeClr val="accent3">
                    <a:lumMod val="50000"/>
                  </a:schemeClr>
                </a:solidFill>
                <a:latin typeface="JetBrains Mono Ultra-Bold"/>
                <a:ea typeface="JetBrains Mono Ultra-Bold"/>
                <a:cs typeface="JetBrains Mono Ultra-Bold"/>
                <a:sym typeface="JetBrains Mono Ultra-Bold"/>
              </a:rPr>
              <a:t>Keshav Sikka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800" b="1" spc="179" dirty="0">
                <a:solidFill>
                  <a:schemeClr val="accent3">
                    <a:lumMod val="50000"/>
                  </a:schemeClr>
                </a:solidFill>
                <a:latin typeface="JetBrains Mono Ultra-Bold"/>
                <a:ea typeface="JetBrains Mono Ultra-Bold"/>
                <a:cs typeface="JetBrains Mono Ultra-Bold"/>
                <a:sym typeface="JetBrains Mono Ultra-Bold"/>
              </a:rPr>
              <a:t>Udit Jain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800" b="1" spc="179" dirty="0">
                <a:solidFill>
                  <a:schemeClr val="accent3">
                    <a:lumMod val="50000"/>
                  </a:schemeClr>
                </a:solidFill>
                <a:latin typeface="JetBrains Mono Ultra-Bold"/>
                <a:ea typeface="JetBrains Mono Ultra-Bold"/>
                <a:cs typeface="JetBrains Mono Ultra-Bold"/>
                <a:sym typeface="JetBrains Mono Ultra-Bold"/>
              </a:rPr>
              <a:t>Sarthak gupta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800" b="1" spc="179" dirty="0">
                <a:solidFill>
                  <a:schemeClr val="accent3">
                    <a:lumMod val="50000"/>
                  </a:schemeClr>
                </a:solidFill>
                <a:latin typeface="JetBrains Mono Ultra-Bold"/>
                <a:ea typeface="JetBrains Mono Ultra-Bold"/>
                <a:cs typeface="JetBrains Mono Ultra-Bold"/>
                <a:sym typeface="JetBrains Mono Ultra-Bold"/>
              </a:rPr>
              <a:t>Abhishek gupta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158</TotalTime>
  <Words>561</Words>
  <Application>Microsoft Office PowerPoint</Application>
  <PresentationFormat>Custom</PresentationFormat>
  <Paragraphs>81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21" baseType="lpstr">
      <vt:lpstr>JetBrains Mono Italics</vt:lpstr>
      <vt:lpstr>Felix Titling</vt:lpstr>
      <vt:lpstr>Space Mono</vt:lpstr>
      <vt:lpstr>Calibri</vt:lpstr>
      <vt:lpstr>JetBrains Mono Bold</vt:lpstr>
      <vt:lpstr>Arial</vt:lpstr>
      <vt:lpstr>JetBrains Mono</vt:lpstr>
      <vt:lpstr>Goudy Old Style</vt:lpstr>
      <vt:lpstr>Telegraf Bold</vt:lpstr>
      <vt:lpstr>JetBrains Mono Medium</vt:lpstr>
      <vt:lpstr>JetBrains Mono Ultra-Bold</vt:lpstr>
      <vt:lpstr>Archway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Grey Modern Bridges Presentation</dc:title>
  <dc:creator>Sarthak Gupta</dc:creator>
  <cp:lastModifiedBy>HIMANSHU SIKKA</cp:lastModifiedBy>
  <cp:revision>7</cp:revision>
  <dcterms:created xsi:type="dcterms:W3CDTF">2006-08-16T00:00:00Z</dcterms:created>
  <dcterms:modified xsi:type="dcterms:W3CDTF">2026-08-26T16:13:57Z</dcterms:modified>
  <dc:identifier>DAHTUQhE4uc</dc:identifier>
</cp:coreProperties>
</file>